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56" r:id="rId3"/>
    <p:sldId id="257" r:id="rId4"/>
  </p:sldIdLst>
  <p:sldSz cx="43891200" cy="32918400"/>
  <p:notesSz cx="6858000" cy="9144000"/>
  <p:defaultText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04"/>
    <p:restoredTop sz="94659"/>
  </p:normalViewPr>
  <p:slideViewPr>
    <p:cSldViewPr snapToGrid="0" snapToObjects="1">
      <p:cViewPr varScale="1">
        <p:scale>
          <a:sx n="13" d="100"/>
          <a:sy n="13" d="100"/>
        </p:scale>
        <p:origin x="1410" y="156"/>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903548" y="6183804"/>
            <a:ext cx="13898880" cy="1752600"/>
          </a:xfrm>
          <a:prstGeom prst="rect">
            <a:avLst/>
          </a:prstGeom>
        </p:spPr>
        <p:txBody>
          <a:bodyPr/>
          <a:lstStyle/>
          <a:p>
            <a:endParaRPr lang="en-US" dirty="0"/>
          </a:p>
        </p:txBody>
      </p:sp>
    </p:spTree>
    <p:extLst>
      <p:ext uri="{BB962C8B-B14F-4D97-AF65-F5344CB8AC3E}">
        <p14:creationId xmlns:p14="http://schemas.microsoft.com/office/powerpoint/2010/main" val="1168046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2194560" y="7680963"/>
            <a:ext cx="39502080" cy="217246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5" name="Footer Placeholder 4"/>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6" name="Slide Number Placeholder 5"/>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2239112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a:prstGeom prst="rect">
            <a:avLst/>
          </a:prstGeo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a:prstGeom prst="rect">
            <a:avLst/>
          </a:prstGeo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5" name="Footer Placeholder 4"/>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6" name="Slide Number Placeholder 5"/>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2356988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0530842" y="36865560"/>
            <a:ext cx="94442280" cy="104279702"/>
          </a:xfrm>
          <a:prstGeom prst="rect">
            <a:avLst/>
          </a:prstGeo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5704642" y="36865560"/>
            <a:ext cx="94442280" cy="104279702"/>
          </a:xfrm>
          <a:prstGeom prst="rect">
            <a:avLst/>
          </a:prstGeo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6" name="Footer Placeholder 5"/>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7" name="Slide Number Placeholder 6"/>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3083363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a:prstGeom prst="rect">
            <a:avLst/>
          </a:prstGeo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a:prstGeom prst="rect">
            <a:avLst/>
          </a:prstGeo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a:prstGeom prst="rect">
            <a:avLst/>
          </a:prstGeo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a:prstGeom prst="rect">
            <a:avLst/>
          </a:prstGeo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8" name="Footer Placeholder 7"/>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9" name="Slide Number Placeholder 8"/>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2996494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4" name="Footer Placeholder 3"/>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5" name="Slide Number Placeholder 4"/>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400930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3" name="Footer Placeholder 2"/>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4" name="Slide Number Placeholder 3"/>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1166417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a:prstGeom prst="rect">
            <a:avLst/>
          </a:prstGeo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a:prstGeom prst="rect">
            <a:avLst/>
          </a:prstGeo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a:prstGeom prst="rect">
            <a:avLst/>
          </a:prstGeo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6" name="Footer Placeholder 5"/>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7" name="Slide Number Placeholder 6"/>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3064414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a:prstGeom prst="rect">
            <a:avLst/>
          </a:prstGeo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a:prstGeom prst="rect">
            <a:avLst/>
          </a:prstGeo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a:prstGeom prst="rect">
            <a:avLst/>
          </a:prstGeo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6" name="Footer Placeholder 5"/>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7" name="Slide Number Placeholder 6"/>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2726359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2194560" y="7680963"/>
            <a:ext cx="39502080" cy="2172462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5" name="Footer Placeholder 4"/>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6" name="Slide Number Placeholder 5"/>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4045309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2742905" y="6324600"/>
            <a:ext cx="47404018" cy="13482066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0530843" y="6324600"/>
            <a:ext cx="141480542" cy="13482066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5" name="Footer Placeholder 4"/>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6" name="Slide Number Placeholder 5"/>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708852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903548" y="6183804"/>
            <a:ext cx="13898880" cy="1752600"/>
          </a:xfrm>
          <a:prstGeom prst="rect">
            <a:avLst/>
          </a:prstGeom>
        </p:spPr>
        <p:txBody>
          <a:bodyPr/>
          <a:lstStyle/>
          <a:p>
            <a:endParaRPr lang="en-US" dirty="0"/>
          </a:p>
        </p:txBody>
      </p:sp>
    </p:spTree>
    <p:extLst>
      <p:ext uri="{BB962C8B-B14F-4D97-AF65-F5344CB8AC3E}">
        <p14:creationId xmlns:p14="http://schemas.microsoft.com/office/powerpoint/2010/main" val="18561204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2194560" y="7680963"/>
            <a:ext cx="39502080" cy="217246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5" name="Footer Placeholder 4"/>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6" name="Slide Number Placeholder 5"/>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3421021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a:prstGeom prst="rect">
            <a:avLst/>
          </a:prstGeo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a:prstGeom prst="rect">
            <a:avLst/>
          </a:prstGeo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5" name="Footer Placeholder 4"/>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6" name="Slide Number Placeholder 5"/>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431069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0530842" y="36865560"/>
            <a:ext cx="94442280" cy="104279702"/>
          </a:xfrm>
          <a:prstGeom prst="rect">
            <a:avLst/>
          </a:prstGeo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5704642" y="36865560"/>
            <a:ext cx="94442280" cy="104279702"/>
          </a:xfrm>
          <a:prstGeom prst="rect">
            <a:avLst/>
          </a:prstGeo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6" name="Footer Placeholder 5"/>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7" name="Slide Number Placeholder 6"/>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3237941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a:prstGeom prst="rect">
            <a:avLst/>
          </a:prstGeo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a:prstGeom prst="rect">
            <a:avLst/>
          </a:prstGeo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a:prstGeom prst="rect">
            <a:avLst/>
          </a:prstGeo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a:prstGeom prst="rect">
            <a:avLst/>
          </a:prstGeo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8" name="Footer Placeholder 7"/>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9" name="Slide Number Placeholder 8"/>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3776539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4" name="Footer Placeholder 3"/>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5" name="Slide Number Placeholder 4"/>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42388208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3" name="Footer Placeholder 2"/>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4" name="Slide Number Placeholder 3"/>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35738209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a:prstGeom prst="rect">
            <a:avLst/>
          </a:prstGeo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a:prstGeom prst="rect">
            <a:avLst/>
          </a:prstGeo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a:prstGeom prst="rect">
            <a:avLst/>
          </a:prstGeo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6" name="Footer Placeholder 5"/>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7" name="Slide Number Placeholder 6"/>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32943953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a:prstGeom prst="rect">
            <a:avLst/>
          </a:prstGeo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a:prstGeom prst="rect">
            <a:avLst/>
          </a:prstGeo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a:prstGeom prst="rect">
            <a:avLst/>
          </a:prstGeo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6" name="Footer Placeholder 5"/>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7" name="Slide Number Placeholder 6"/>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26233809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2194560" y="7680963"/>
            <a:ext cx="39502080" cy="2172462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5" name="Footer Placeholder 4"/>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6" name="Slide Number Placeholder 5"/>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13917233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2742905" y="6324600"/>
            <a:ext cx="47404018" cy="13482066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0530843" y="6324600"/>
            <a:ext cx="141480542" cy="13482066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194560" y="30510482"/>
            <a:ext cx="10241280" cy="1752600"/>
          </a:xfrm>
          <a:prstGeom prst="rect">
            <a:avLst/>
          </a:prstGeom>
        </p:spPr>
        <p:txBody>
          <a:bodyPr/>
          <a:lstStyle/>
          <a:p>
            <a:fld id="{46408A93-61E7-8940-B5B0-C519D7D9C905}" type="datetimeFigureOut">
              <a:rPr lang="en-US" smtClean="0"/>
              <a:t>11/20/2025</a:t>
            </a:fld>
            <a:endParaRPr lang="en-US"/>
          </a:p>
        </p:txBody>
      </p:sp>
      <p:sp>
        <p:nvSpPr>
          <p:cNvPr id="5" name="Footer Placeholder 4"/>
          <p:cNvSpPr>
            <a:spLocks noGrp="1"/>
          </p:cNvSpPr>
          <p:nvPr>
            <p:ph type="ftr" sz="quarter" idx="11"/>
          </p:nvPr>
        </p:nvSpPr>
        <p:spPr>
          <a:xfrm>
            <a:off x="14996160" y="30510482"/>
            <a:ext cx="13898880" cy="1752600"/>
          </a:xfrm>
          <a:prstGeom prst="rect">
            <a:avLst/>
          </a:prstGeom>
        </p:spPr>
        <p:txBody>
          <a:bodyPr/>
          <a:lstStyle/>
          <a:p>
            <a:endParaRPr lang="en-US"/>
          </a:p>
        </p:txBody>
      </p:sp>
      <p:sp>
        <p:nvSpPr>
          <p:cNvPr id="6" name="Slide Number Placeholder 5"/>
          <p:cNvSpPr>
            <a:spLocks noGrp="1"/>
          </p:cNvSpPr>
          <p:nvPr>
            <p:ph type="sldNum" sz="quarter" idx="12"/>
          </p:nvPr>
        </p:nvSpPr>
        <p:spPr>
          <a:xfrm>
            <a:off x="31455360" y="30510482"/>
            <a:ext cx="10241280" cy="1752600"/>
          </a:xfrm>
          <a:prstGeom prst="rect">
            <a:avLst/>
          </a:prstGeom>
        </p:spPr>
        <p:txBody>
          <a:bodyPr/>
          <a:lstStyle/>
          <a:p>
            <a:fld id="{22AC47A6-2D41-C84F-90F9-7EB90B69711C}" type="slidenum">
              <a:rPr lang="en-US" smtClean="0"/>
              <a:t>‹#›</a:t>
            </a:fld>
            <a:endParaRPr lang="en-US"/>
          </a:p>
        </p:txBody>
      </p:sp>
    </p:spTree>
    <p:extLst>
      <p:ext uri="{BB962C8B-B14F-4D97-AF65-F5344CB8AC3E}">
        <p14:creationId xmlns:p14="http://schemas.microsoft.com/office/powerpoint/2010/main" val="4062591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3"/>
          <a:srcRect/>
          <a:stretch/>
        </p:blipFill>
        <p:spPr>
          <a:xfrm>
            <a:off x="0" y="0"/>
            <a:ext cx="43891200" cy="32918400"/>
          </a:xfrm>
          <a:prstGeom prst="rect">
            <a:avLst/>
          </a:prstGeom>
        </p:spPr>
      </p:pic>
    </p:spTree>
    <p:extLst>
      <p:ext uri="{BB962C8B-B14F-4D97-AF65-F5344CB8AC3E}">
        <p14:creationId xmlns:p14="http://schemas.microsoft.com/office/powerpoint/2010/main" val="3310464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19456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40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0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0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3"/>
          <a:srcRect/>
          <a:stretch/>
        </p:blipFill>
        <p:spPr>
          <a:xfrm>
            <a:off x="0" y="0"/>
            <a:ext cx="43891200" cy="32918400"/>
          </a:xfrm>
          <a:prstGeom prst="rect">
            <a:avLst/>
          </a:prstGeom>
        </p:spPr>
      </p:pic>
    </p:spTree>
    <p:extLst>
      <p:ext uri="{BB962C8B-B14F-4D97-AF65-F5344CB8AC3E}">
        <p14:creationId xmlns:p14="http://schemas.microsoft.com/office/powerpoint/2010/main" val="2746540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219456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40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0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0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0172701" y="194873"/>
            <a:ext cx="30022800" cy="2234830"/>
          </a:xfrm>
          <a:prstGeom prst="rect">
            <a:avLst/>
          </a:prstGeom>
        </p:spPr>
        <p:txBody>
          <a:bodyPr/>
          <a:lstStyle>
            <a:lvl1pPr algn="ctr" defTabSz="2194560" rtl="0" eaLnBrk="1" latinLnBrk="0" hangingPunct="1">
              <a:spcBef>
                <a:spcPct val="0"/>
              </a:spcBef>
              <a:buNone/>
              <a:defRPr sz="21100" kern="1200">
                <a:solidFill>
                  <a:schemeClr val="tx1"/>
                </a:solidFill>
                <a:latin typeface="+mj-lt"/>
                <a:ea typeface="+mj-ea"/>
                <a:cs typeface="+mj-cs"/>
              </a:defRPr>
            </a:lvl1pPr>
          </a:lstStyle>
          <a:p>
            <a:r>
              <a:rPr lang="en-US" sz="10000" dirty="0">
                <a:solidFill>
                  <a:schemeClr val="bg1"/>
                </a:solidFill>
              </a:rPr>
              <a:t>Automated Grass Health Classification Using Alex Net Deep Learning Model</a:t>
            </a:r>
          </a:p>
          <a:p>
            <a:endParaRPr lang="en-US" sz="10000" dirty="0">
              <a:solidFill>
                <a:schemeClr val="bg1"/>
              </a:solidFill>
            </a:endParaRPr>
          </a:p>
        </p:txBody>
      </p:sp>
      <p:sp>
        <p:nvSpPr>
          <p:cNvPr id="6" name="Rectangle 5"/>
          <p:cNvSpPr/>
          <p:nvPr/>
        </p:nvSpPr>
        <p:spPr>
          <a:xfrm>
            <a:off x="1137457" y="5539117"/>
            <a:ext cx="13361523" cy="1063702"/>
          </a:xfrm>
          <a:prstGeom prst="rect">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a:off x="2483961" y="5433269"/>
            <a:ext cx="10668514" cy="1169551"/>
          </a:xfrm>
          <a:prstGeom prst="rect">
            <a:avLst/>
          </a:prstGeom>
          <a:noFill/>
        </p:spPr>
        <p:txBody>
          <a:bodyPr wrap="square" rtlCol="0">
            <a:spAutoFit/>
          </a:bodyPr>
          <a:lstStyle/>
          <a:p>
            <a:pPr algn="ctr"/>
            <a:r>
              <a:rPr lang="en-US" sz="7000" dirty="0">
                <a:solidFill>
                  <a:schemeClr val="bg1"/>
                </a:solidFill>
              </a:rPr>
              <a:t>HYPOTHESIS</a:t>
            </a:r>
          </a:p>
        </p:txBody>
      </p:sp>
      <p:sp>
        <p:nvSpPr>
          <p:cNvPr id="12" name="Title 1"/>
          <p:cNvSpPr txBox="1">
            <a:spLocks/>
          </p:cNvSpPr>
          <p:nvPr/>
        </p:nvSpPr>
        <p:spPr>
          <a:xfrm>
            <a:off x="5537200" y="3474622"/>
            <a:ext cx="37677889" cy="1484314"/>
          </a:xfrm>
          <a:prstGeom prst="rect">
            <a:avLst/>
          </a:prstGeom>
        </p:spPr>
        <p:txBody>
          <a:bodyPr/>
          <a:lstStyle>
            <a:lvl1pPr algn="ctr" defTabSz="2194560" rtl="0" eaLnBrk="1" latinLnBrk="0" hangingPunct="1">
              <a:spcBef>
                <a:spcPct val="0"/>
              </a:spcBef>
              <a:buNone/>
              <a:defRPr sz="21100" kern="1200">
                <a:solidFill>
                  <a:schemeClr val="tx1"/>
                </a:solidFill>
                <a:latin typeface="+mj-lt"/>
                <a:ea typeface="+mj-ea"/>
                <a:cs typeface="+mj-cs"/>
              </a:defRPr>
            </a:lvl1pPr>
          </a:lstStyle>
          <a:p>
            <a:r>
              <a:rPr lang="en-US" sz="6000" dirty="0">
                <a:solidFill>
                  <a:schemeClr val="bg1"/>
                </a:solidFill>
              </a:rPr>
              <a:t>By Daniel Gutierrez</a:t>
            </a:r>
          </a:p>
        </p:txBody>
      </p:sp>
      <p:sp>
        <p:nvSpPr>
          <p:cNvPr id="27" name="Rectangle 26"/>
          <p:cNvSpPr/>
          <p:nvPr/>
        </p:nvSpPr>
        <p:spPr>
          <a:xfrm>
            <a:off x="15381107" y="5539117"/>
            <a:ext cx="13361523" cy="1063702"/>
          </a:xfrm>
          <a:prstGeom prst="rect">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p:cNvSpPr txBox="1"/>
          <p:nvPr/>
        </p:nvSpPr>
        <p:spPr>
          <a:xfrm>
            <a:off x="16727611" y="5433269"/>
            <a:ext cx="10668514" cy="1169551"/>
          </a:xfrm>
          <a:prstGeom prst="rect">
            <a:avLst/>
          </a:prstGeom>
          <a:noFill/>
        </p:spPr>
        <p:txBody>
          <a:bodyPr wrap="square" rtlCol="0">
            <a:spAutoFit/>
          </a:bodyPr>
          <a:lstStyle/>
          <a:p>
            <a:pPr algn="ctr"/>
            <a:r>
              <a:rPr lang="en-US" sz="7000" dirty="0">
                <a:solidFill>
                  <a:schemeClr val="bg1"/>
                </a:solidFill>
              </a:rPr>
              <a:t>SUPPORTING DATA</a:t>
            </a:r>
          </a:p>
        </p:txBody>
      </p:sp>
      <p:sp>
        <p:nvSpPr>
          <p:cNvPr id="29" name="Rectangle 28"/>
          <p:cNvSpPr/>
          <p:nvPr/>
        </p:nvSpPr>
        <p:spPr>
          <a:xfrm>
            <a:off x="29576335" y="5539117"/>
            <a:ext cx="13327596" cy="1063702"/>
          </a:xfrm>
          <a:prstGeom prst="rect">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p:cNvSpPr txBox="1"/>
          <p:nvPr/>
        </p:nvSpPr>
        <p:spPr>
          <a:xfrm>
            <a:off x="30905876" y="5433269"/>
            <a:ext cx="10668514" cy="1169551"/>
          </a:xfrm>
          <a:prstGeom prst="rect">
            <a:avLst/>
          </a:prstGeom>
          <a:noFill/>
        </p:spPr>
        <p:txBody>
          <a:bodyPr wrap="square" rtlCol="0">
            <a:spAutoFit/>
          </a:bodyPr>
          <a:lstStyle/>
          <a:p>
            <a:pPr algn="ctr"/>
            <a:r>
              <a:rPr lang="en-US" sz="7000" dirty="0">
                <a:solidFill>
                  <a:schemeClr val="bg1"/>
                </a:solidFill>
              </a:rPr>
              <a:t>CONCLUSION</a:t>
            </a:r>
          </a:p>
        </p:txBody>
      </p:sp>
      <p:sp>
        <p:nvSpPr>
          <p:cNvPr id="32" name="Rectangle 31"/>
          <p:cNvSpPr/>
          <p:nvPr/>
        </p:nvSpPr>
        <p:spPr>
          <a:xfrm>
            <a:off x="1154421" y="12367720"/>
            <a:ext cx="13327595" cy="1063702"/>
          </a:xfrm>
          <a:prstGeom prst="rect">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p:cNvSpPr txBox="1"/>
          <p:nvPr/>
        </p:nvSpPr>
        <p:spPr>
          <a:xfrm>
            <a:off x="2483961" y="12261872"/>
            <a:ext cx="10668514" cy="1169551"/>
          </a:xfrm>
          <a:prstGeom prst="rect">
            <a:avLst/>
          </a:prstGeom>
          <a:noFill/>
        </p:spPr>
        <p:txBody>
          <a:bodyPr wrap="square" rtlCol="0">
            <a:spAutoFit/>
          </a:bodyPr>
          <a:lstStyle/>
          <a:p>
            <a:pPr algn="ctr"/>
            <a:r>
              <a:rPr lang="en-US" sz="7000" dirty="0">
                <a:solidFill>
                  <a:schemeClr val="bg1"/>
                </a:solidFill>
              </a:rPr>
              <a:t>BACKGROUND</a:t>
            </a:r>
          </a:p>
        </p:txBody>
      </p:sp>
      <p:sp>
        <p:nvSpPr>
          <p:cNvPr id="34" name="Rectangle 33"/>
          <p:cNvSpPr/>
          <p:nvPr/>
        </p:nvSpPr>
        <p:spPr>
          <a:xfrm>
            <a:off x="29576335" y="18753704"/>
            <a:ext cx="13361523" cy="1063702"/>
          </a:xfrm>
          <a:prstGeom prst="rect">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TextBox 34"/>
          <p:cNvSpPr txBox="1"/>
          <p:nvPr/>
        </p:nvSpPr>
        <p:spPr>
          <a:xfrm>
            <a:off x="30922839" y="18647856"/>
            <a:ext cx="10668514" cy="1169551"/>
          </a:xfrm>
          <a:prstGeom prst="rect">
            <a:avLst/>
          </a:prstGeom>
          <a:noFill/>
        </p:spPr>
        <p:txBody>
          <a:bodyPr wrap="square" rtlCol="0">
            <a:spAutoFit/>
          </a:bodyPr>
          <a:lstStyle/>
          <a:p>
            <a:pPr algn="ctr"/>
            <a:r>
              <a:rPr lang="en-US" sz="7000" dirty="0">
                <a:solidFill>
                  <a:schemeClr val="bg1"/>
                </a:solidFill>
              </a:rPr>
              <a:t>REFERENCES</a:t>
            </a:r>
          </a:p>
        </p:txBody>
      </p:sp>
      <p:sp>
        <p:nvSpPr>
          <p:cNvPr id="36" name="TextBox 35"/>
          <p:cNvSpPr txBox="1"/>
          <p:nvPr/>
        </p:nvSpPr>
        <p:spPr>
          <a:xfrm>
            <a:off x="1137458" y="6637901"/>
            <a:ext cx="13361522" cy="3477875"/>
          </a:xfrm>
          <a:prstGeom prst="rect">
            <a:avLst/>
          </a:prstGeom>
          <a:noFill/>
        </p:spPr>
        <p:txBody>
          <a:bodyPr wrap="square" rtlCol="0">
            <a:spAutoFit/>
          </a:bodyPr>
          <a:lstStyle/>
          <a:p>
            <a:r>
              <a:rPr lang="en-US" sz="4400" dirty="0"/>
              <a:t>If we train an Alex Net model using labeled images of healthy and unhealthy grass, then the model will be able to accurately classify new grass images based on color, texture, and pattern features, with an overall accuracy above 85%.</a:t>
            </a:r>
            <a:endParaRPr lang="en-US" sz="4200" dirty="0">
              <a:solidFill>
                <a:schemeClr val="tx2">
                  <a:lumMod val="75000"/>
                </a:schemeClr>
              </a:solidFill>
            </a:endParaRPr>
          </a:p>
        </p:txBody>
      </p:sp>
      <p:sp>
        <p:nvSpPr>
          <p:cNvPr id="41" name="TextBox 40"/>
          <p:cNvSpPr txBox="1"/>
          <p:nvPr/>
        </p:nvSpPr>
        <p:spPr>
          <a:xfrm>
            <a:off x="15381108" y="6602820"/>
            <a:ext cx="13361522" cy="16342935"/>
          </a:xfrm>
          <a:prstGeom prst="rect">
            <a:avLst/>
          </a:prstGeom>
          <a:noFill/>
        </p:spPr>
        <p:txBody>
          <a:bodyPr wrap="square" rtlCol="0">
            <a:spAutoFit/>
          </a:bodyPr>
          <a:lstStyle/>
          <a:p>
            <a:r>
              <a:rPr lang="en-US" sz="4400" b="1" dirty="0"/>
              <a:t>Model Performance Over Time:</a:t>
            </a:r>
            <a:br>
              <a:rPr lang="en-US" sz="4400" dirty="0"/>
            </a:br>
            <a:r>
              <a:rPr lang="en-US" sz="4400" dirty="0"/>
              <a:t>The Training vs Validation Loss graph shows that both losses decreased significantly across the 10 epochs, with validation loss dropping sharply, indicating that the model quickly learned to generalize.</a:t>
            </a:r>
            <a:br>
              <a:rPr lang="en-US" sz="4400" dirty="0"/>
            </a:br>
            <a:r>
              <a:rPr lang="en-US" sz="4400" dirty="0"/>
              <a:t>The Accuracy graph reveals that validation accuracy reached 90% early (Epoch 4) and consistently stayed around 88%–90%, while training accuracy gradually increased to 88%, showing strong generalization without severe overfitting.</a:t>
            </a:r>
          </a:p>
          <a:p>
            <a:r>
              <a:rPr lang="en-US" sz="4400" b="1" dirty="0"/>
              <a:t>Confusion Matrix – Baseline Evaluation:</a:t>
            </a:r>
            <a:br>
              <a:rPr lang="en-US" sz="4400" dirty="0"/>
            </a:br>
            <a:r>
              <a:rPr lang="en-US" sz="4400" dirty="0"/>
              <a:t>Correctly predicted 4 out of 5 healthy images.</a:t>
            </a:r>
            <a:br>
              <a:rPr lang="en-US" sz="4400" dirty="0"/>
            </a:br>
            <a:r>
              <a:rPr lang="en-US" sz="4400" dirty="0"/>
              <a:t>Correctly predicted all 5 unhealthy images.</a:t>
            </a:r>
            <a:br>
              <a:rPr lang="en-US" sz="4400" dirty="0"/>
            </a:br>
            <a:r>
              <a:rPr lang="en-US" sz="4400" dirty="0"/>
              <a:t>Overall baseline accuracy = 90% (9/10 correct).</a:t>
            </a:r>
          </a:p>
          <a:p>
            <a:r>
              <a:rPr lang="en-US" sz="4400" b="1" dirty="0"/>
              <a:t>Hyperparameter Experiments:</a:t>
            </a:r>
            <a:br>
              <a:rPr lang="en-US" sz="4400" dirty="0"/>
            </a:br>
            <a:r>
              <a:rPr lang="en-US" sz="4400" dirty="0"/>
              <a:t>Batch Size Test: Batch size of 64 achieved 100% accuracy, while batch size of 16 achieved 90%.</a:t>
            </a:r>
            <a:br>
              <a:rPr lang="en-US" sz="4400" dirty="0"/>
            </a:br>
            <a:r>
              <a:rPr lang="en-US" sz="4400" dirty="0"/>
              <a:t>Learning Rate Test: Both 0.001 and 0.0001 produced 100% accuracy, but 0.001 learned faster.</a:t>
            </a:r>
          </a:p>
          <a:p>
            <a:r>
              <a:rPr lang="en-US" sz="4400" b="1" dirty="0"/>
              <a:t>Qualitative Results (Image Predictions):</a:t>
            </a:r>
            <a:br>
              <a:rPr lang="en-US" sz="4400" dirty="0"/>
            </a:br>
            <a:r>
              <a:rPr lang="en-US" sz="4400" dirty="0"/>
              <a:t>Healthy predictions ranged from 81%–95% confidence.</a:t>
            </a:r>
            <a:br>
              <a:rPr lang="en-US" sz="4400" dirty="0"/>
            </a:br>
            <a:r>
              <a:rPr lang="en-US" sz="4400" dirty="0"/>
              <a:t>Unhealthy reached up to 99.7% certainty.</a:t>
            </a:r>
            <a:br>
              <a:rPr lang="en-US" sz="4400" dirty="0"/>
            </a:br>
            <a:r>
              <a:rPr lang="en-US" sz="4400" dirty="0"/>
              <a:t>Only one unhealthy image was misclassified as healthy (85.7%) due to green patches.</a:t>
            </a:r>
          </a:p>
        </p:txBody>
      </p:sp>
      <p:sp>
        <p:nvSpPr>
          <p:cNvPr id="42" name="TextBox 41"/>
          <p:cNvSpPr txBox="1"/>
          <p:nvPr/>
        </p:nvSpPr>
        <p:spPr>
          <a:xfrm>
            <a:off x="29576335" y="6624627"/>
            <a:ext cx="13285264" cy="8217634"/>
          </a:xfrm>
          <a:prstGeom prst="rect">
            <a:avLst/>
          </a:prstGeom>
          <a:noFill/>
        </p:spPr>
        <p:txBody>
          <a:bodyPr wrap="square" rtlCol="0">
            <a:spAutoFit/>
          </a:bodyPr>
          <a:lstStyle/>
          <a:p>
            <a:r>
              <a:rPr lang="en-US" sz="4400" dirty="0"/>
              <a:t>The Alex Net model successfully learned to classify grass health from images with </a:t>
            </a:r>
            <a:r>
              <a:rPr lang="en-US" sz="4400" b="1" dirty="0"/>
              <a:t>up to 100% accuracy</a:t>
            </a:r>
            <a:r>
              <a:rPr lang="en-US" sz="4400" dirty="0"/>
              <a:t> in hyperparameter experiments and strong validation performance (around 90% across the epochs). The model showed reliable predictions, correctly identifying critical visual features such as color richness, dryness patches, and texture density. These results confirm that deep learning is a strong approach for automating grass health detection. With more data and fine-tuning, this model could be used for real-world applications in smart irrigation, lawn maintenance systems, and agricultural monitoring.</a:t>
            </a:r>
            <a:endParaRPr lang="en-US" sz="4200" dirty="0">
              <a:solidFill>
                <a:schemeClr val="tx2">
                  <a:lumMod val="75000"/>
                </a:schemeClr>
              </a:solidFill>
            </a:endParaRPr>
          </a:p>
        </p:txBody>
      </p:sp>
      <p:sp>
        <p:nvSpPr>
          <p:cNvPr id="43" name="TextBox 42"/>
          <p:cNvSpPr txBox="1"/>
          <p:nvPr/>
        </p:nvSpPr>
        <p:spPr>
          <a:xfrm>
            <a:off x="29576335" y="19817407"/>
            <a:ext cx="13319191" cy="4801314"/>
          </a:xfrm>
          <a:prstGeom prst="rect">
            <a:avLst/>
          </a:prstGeom>
          <a:noFill/>
        </p:spPr>
        <p:txBody>
          <a:bodyPr wrap="square" rtlCol="0">
            <a:spAutoFit/>
          </a:bodyPr>
          <a:lstStyle/>
          <a:p>
            <a:r>
              <a:rPr lang="en-US" sz="4400" dirty="0" err="1"/>
              <a:t>Krizhevsky</a:t>
            </a:r>
            <a:r>
              <a:rPr lang="en-US" sz="4400" dirty="0"/>
              <a:t>, A., </a:t>
            </a:r>
            <a:r>
              <a:rPr lang="en-US" sz="4400" dirty="0" err="1"/>
              <a:t>Sutskever</a:t>
            </a:r>
            <a:r>
              <a:rPr lang="en-US" sz="4400" dirty="0"/>
              <a:t>, I., &amp; Hinton, G. (2012). ImageNet Classification with Deep Convolutional Neural Networks (</a:t>
            </a:r>
            <a:r>
              <a:rPr lang="en-US" sz="4400" dirty="0" err="1"/>
              <a:t>AlexNet</a:t>
            </a:r>
            <a:r>
              <a:rPr lang="en-US" sz="4400" dirty="0"/>
              <a:t>).</a:t>
            </a:r>
          </a:p>
          <a:p>
            <a:r>
              <a:rPr lang="en-US" sz="4400" dirty="0" err="1"/>
              <a:t>PyTorch</a:t>
            </a:r>
            <a:r>
              <a:rPr lang="en-US" sz="4400" dirty="0"/>
              <a:t> Documentation – Model Training and Data Loading.</a:t>
            </a:r>
          </a:p>
          <a:p>
            <a:r>
              <a:rPr lang="en-US" sz="4400" dirty="0"/>
              <a:t>Project Dataset (Healthy vs Unhealthy Grass Images).</a:t>
            </a:r>
          </a:p>
          <a:p>
            <a:endParaRPr lang="en-US" sz="4200" dirty="0">
              <a:solidFill>
                <a:schemeClr val="tx2">
                  <a:lumMod val="75000"/>
                </a:schemeClr>
              </a:solidFill>
            </a:endParaRPr>
          </a:p>
        </p:txBody>
      </p:sp>
      <p:sp>
        <p:nvSpPr>
          <p:cNvPr id="44" name="TextBox 43"/>
          <p:cNvSpPr txBox="1"/>
          <p:nvPr/>
        </p:nvSpPr>
        <p:spPr>
          <a:xfrm>
            <a:off x="1171385" y="13431423"/>
            <a:ext cx="11133520" cy="8863965"/>
          </a:xfrm>
          <a:prstGeom prst="rect">
            <a:avLst/>
          </a:prstGeom>
          <a:noFill/>
        </p:spPr>
        <p:txBody>
          <a:bodyPr wrap="square" rtlCol="0">
            <a:spAutoFit/>
          </a:bodyPr>
          <a:lstStyle/>
          <a:p>
            <a:r>
              <a:rPr lang="en-US" sz="4400" dirty="0"/>
              <a:t>The goal of this project was to develop an image classification model using Alex Net to detect whether grass is </a:t>
            </a:r>
            <a:r>
              <a:rPr lang="en-US" sz="4400" b="1" dirty="0"/>
              <a:t>healthy or unhealthy</a:t>
            </a:r>
            <a:r>
              <a:rPr lang="en-US" sz="4400" dirty="0"/>
              <a:t>. Detecting grass quality is important for landscaping, agriculture, irrigation planning, and early detection of soil or disease issues. The dataset contained clear visual differences between lush green grass and yellow/brown dry patches. By training an Alex Net model on these images, we measured how well the model could learn visual patterns that indicate health conditions.</a:t>
            </a:r>
          </a:p>
          <a:p>
            <a:endParaRPr lang="en-US" sz="4200" dirty="0">
              <a:solidFill>
                <a:schemeClr val="tx2">
                  <a:lumMod val="75000"/>
                </a:schemeClr>
              </a:solidFill>
            </a:endParaRPr>
          </a:p>
        </p:txBody>
      </p:sp>
      <p:sp>
        <p:nvSpPr>
          <p:cNvPr id="46" name="Rectangle 45"/>
          <p:cNvSpPr/>
          <p:nvPr/>
        </p:nvSpPr>
        <p:spPr>
          <a:xfrm>
            <a:off x="15489827" y="23569297"/>
            <a:ext cx="6399786" cy="4930544"/>
          </a:xfrm>
          <a:prstGeom prst="rect">
            <a:avLst/>
          </a:prstGeom>
          <a:no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a:off x="22388457" y="23569297"/>
            <a:ext cx="6367387" cy="4930544"/>
          </a:xfrm>
          <a:prstGeom prst="rect">
            <a:avLst/>
          </a:prstGeom>
          <a:no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031D4E5-2815-DA89-3817-03E660CA67A2}"/>
              </a:ext>
            </a:extLst>
          </p:cNvPr>
          <p:cNvSpPr>
            <a:spLocks noChangeArrowheads="1"/>
          </p:cNvSpPr>
          <p:nvPr/>
        </p:nvSpPr>
        <p:spPr bwMode="auto">
          <a:xfrm>
            <a:off x="0" y="0"/>
            <a:ext cx="43891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Krizhevsky, A., Sutskever, I., &amp; Hinton, G. (2012). ImageNet Classification with Deep Convolutional Neural Networks (AlexNet).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PyTorch Documentation – Model Training and Data Loading.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Project Dataset (Healthy vs Unhealthy Grass Images).</a:t>
            </a:r>
          </a:p>
        </p:txBody>
      </p:sp>
      <p:pic>
        <p:nvPicPr>
          <p:cNvPr id="8" name="Picture 7" descr="A collage of different types of grass&#10;&#10;AI-generated content may be incorrect.">
            <a:extLst>
              <a:ext uri="{FF2B5EF4-FFF2-40B4-BE49-F238E27FC236}">
                <a16:creationId xmlns:a16="http://schemas.microsoft.com/office/drawing/2014/main" id="{B45994D9-041B-9893-5E36-D38C18A6F4B9}"/>
              </a:ext>
            </a:extLst>
          </p:cNvPr>
          <p:cNvPicPr>
            <a:picLocks noChangeAspect="1"/>
          </p:cNvPicPr>
          <p:nvPr/>
        </p:nvPicPr>
        <p:blipFill>
          <a:blip r:embed="rId2"/>
          <a:stretch>
            <a:fillRect/>
          </a:stretch>
        </p:blipFill>
        <p:spPr>
          <a:xfrm>
            <a:off x="995674" y="23569297"/>
            <a:ext cx="13304546" cy="542240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0" name="Picture 9" descr="A graph with blue and orange lines&#10;&#10;AI-generated content may be incorrect.">
            <a:extLst>
              <a:ext uri="{FF2B5EF4-FFF2-40B4-BE49-F238E27FC236}">
                <a16:creationId xmlns:a16="http://schemas.microsoft.com/office/drawing/2014/main" id="{34DBBC66-7636-F72B-60DB-3D6368473DF2}"/>
              </a:ext>
            </a:extLst>
          </p:cNvPr>
          <p:cNvPicPr>
            <a:picLocks noChangeAspect="1"/>
          </p:cNvPicPr>
          <p:nvPr/>
        </p:nvPicPr>
        <p:blipFill>
          <a:blip r:embed="rId3"/>
          <a:stretch>
            <a:fillRect/>
          </a:stretch>
        </p:blipFill>
        <p:spPr>
          <a:xfrm>
            <a:off x="15988671" y="24079588"/>
            <a:ext cx="5184658" cy="4160528"/>
          </a:xfrm>
          <a:prstGeom prst="rect">
            <a:avLst/>
          </a:prstGeom>
        </p:spPr>
      </p:pic>
      <p:pic>
        <p:nvPicPr>
          <p:cNvPr id="13" name="Picture 12" descr="A diagram of a blue box&#10;&#10;AI-generated content may be incorrect.">
            <a:extLst>
              <a:ext uri="{FF2B5EF4-FFF2-40B4-BE49-F238E27FC236}">
                <a16:creationId xmlns:a16="http://schemas.microsoft.com/office/drawing/2014/main" id="{0BEE3480-949C-B598-2CA0-78802CF35156}"/>
              </a:ext>
            </a:extLst>
          </p:cNvPr>
          <p:cNvPicPr>
            <a:picLocks noChangeAspect="1"/>
          </p:cNvPicPr>
          <p:nvPr/>
        </p:nvPicPr>
        <p:blipFill>
          <a:blip r:embed="rId4"/>
          <a:stretch>
            <a:fillRect/>
          </a:stretch>
        </p:blipFill>
        <p:spPr>
          <a:xfrm>
            <a:off x="23039759" y="24079588"/>
            <a:ext cx="5038354" cy="4160528"/>
          </a:xfrm>
          <a:prstGeom prst="rect">
            <a:avLst/>
          </a:prstGeom>
        </p:spPr>
      </p:pic>
    </p:spTree>
    <p:extLst>
      <p:ext uri="{BB962C8B-B14F-4D97-AF65-F5344CB8AC3E}">
        <p14:creationId xmlns:p14="http://schemas.microsoft.com/office/powerpoint/2010/main" val="2679222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4101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747</TotalTime>
  <Words>537</Words>
  <Application>Microsoft Office PowerPoint</Application>
  <PresentationFormat>Custom</PresentationFormat>
  <Paragraphs>20</Paragraphs>
  <Slides>2</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vt:i4>
      </vt:variant>
    </vt:vector>
  </HeadingPairs>
  <TitlesOfParts>
    <vt:vector size="5" baseType="lpstr">
      <vt:lpstr>Arial</vt:lpstr>
      <vt:lpstr>Office Theme</vt:lpstr>
      <vt:lpstr>1_Office Theme</vt:lpstr>
      <vt:lpstr>PowerPoint Presentation</vt:lpstr>
      <vt:lpstr>PowerPoint Presentation</vt:lpstr>
    </vt:vector>
  </TitlesOfParts>
  <Company>FAU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Shawn Pennell</dc:creator>
  <cp:lastModifiedBy>Daniel Gutierrez</cp:lastModifiedBy>
  <cp:revision>13</cp:revision>
  <dcterms:created xsi:type="dcterms:W3CDTF">2016-02-23T16:07:19Z</dcterms:created>
  <dcterms:modified xsi:type="dcterms:W3CDTF">2025-11-20T19:25:06Z</dcterms:modified>
</cp:coreProperties>
</file>